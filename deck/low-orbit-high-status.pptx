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1c581c034824435" /><Relationship Type="http://schemas.openxmlformats.org/officeDocument/2006/relationships/extended-properties" Target="/docProps/app.xml" Id="R912652f692144018" /><Relationship Type="http://schemas.openxmlformats.org/officeDocument/2006/relationships/officeDocument" Target="/ppt/presentation.xml" Id="R22808185530f4913" /></Relationships>
</file>

<file path=ppt/presentation.xml><?xml version="1.0" encoding="utf-8"?>
<p:presentation xmlns:p="http://schemas.openxmlformats.org/presentationml/2006/main">
  <p:sldMasterIdLst>
    <p:sldMasterId xmlns:r="http://schemas.openxmlformats.org/officeDocument/2006/relationships" id="2147483648" r:id="R11644fc0e5a44e51"/>
  </p:sldMasterIdLst>
  <p:notesMasterIdLst>
    <p:notesMasterId xmlns:r="http://schemas.openxmlformats.org/officeDocument/2006/relationships" r:id="R57b89ca937f74347"/>
  </p:notesMasterIdLst>
  <p:sldIdLst>
    <p:sldId xmlns:r="http://schemas.openxmlformats.org/officeDocument/2006/relationships" id="256" r:id="R78974ab0448b46cd"/>
    <p:sldId xmlns:r="http://schemas.openxmlformats.org/officeDocument/2006/relationships" id="257" r:id="R4ff51033c01a4e8b"/>
    <p:sldId xmlns:r="http://schemas.openxmlformats.org/officeDocument/2006/relationships" id="258" r:id="Rd613542795374b76"/>
    <p:sldId xmlns:r="http://schemas.openxmlformats.org/officeDocument/2006/relationships" id="259" r:id="Rf28e319e10c74c56"/>
    <p:sldId xmlns:r="http://schemas.openxmlformats.org/officeDocument/2006/relationships" id="260" r:id="R36833d97cb974f1f"/>
    <p:sldId xmlns:r="http://schemas.openxmlformats.org/officeDocument/2006/relationships" id="261" r:id="Rb283aee57a214433"/>
    <p:sldId xmlns:r="http://schemas.openxmlformats.org/officeDocument/2006/relationships" id="262" r:id="R63819802f9f04fab"/>
    <p:sldId xmlns:r="http://schemas.openxmlformats.org/officeDocument/2006/relationships" id="263" r:id="Rabf0b09514b94c0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4934748169b40d6" /><Relationship Type="http://schemas.openxmlformats.org/officeDocument/2006/relationships/slideMaster" Target="/ppt/slideMasters/slideMaster1.xml" Id="R11644fc0e5a44e51" /><Relationship Type="http://schemas.openxmlformats.org/officeDocument/2006/relationships/notesMaster" Target="/ppt/notesMasters/notesMaster1.xml" Id="R57b89ca937f74347" /><Relationship Type="http://schemas.openxmlformats.org/officeDocument/2006/relationships/presProps" Target="/ppt/presProps.xml" Id="Rf595c03ce25f4719" /><Relationship Type="http://schemas.openxmlformats.org/officeDocument/2006/relationships/tableStyles" Target="/ppt/tableStyles.xml" Id="R62f44cec16c34f18" /><Relationship Type="http://schemas.openxmlformats.org/officeDocument/2006/relationships/slide" Target="/ppt/slides/slide1.xml" Id="R78974ab0448b46cd" /><Relationship Type="http://schemas.openxmlformats.org/officeDocument/2006/relationships/slide" Target="/ppt/slides/slide2.xml" Id="R4ff51033c01a4e8b" /><Relationship Type="http://schemas.openxmlformats.org/officeDocument/2006/relationships/slide" Target="/ppt/slides/slide3.xml" Id="Rd613542795374b76" /><Relationship Type="http://schemas.openxmlformats.org/officeDocument/2006/relationships/slide" Target="/ppt/slides/slide4.xml" Id="Rf28e319e10c74c56" /><Relationship Type="http://schemas.openxmlformats.org/officeDocument/2006/relationships/slide" Target="/ppt/slides/slide5.xml" Id="R36833d97cb974f1f" /><Relationship Type="http://schemas.openxmlformats.org/officeDocument/2006/relationships/slide" Target="/ppt/slides/slide6.xml" Id="Rb283aee57a214433" /><Relationship Type="http://schemas.openxmlformats.org/officeDocument/2006/relationships/slide" Target="/ppt/slides/slide7.xml" Id="R63819802f9f04fab" /><Relationship Type="http://schemas.openxmlformats.org/officeDocument/2006/relationships/slide" Target="/ppt/slides/slide8.xml" Id="Rabf0b09514b94c0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167faf1362f4da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7c921ae881a4fce" /><Relationship Type="http://schemas.openxmlformats.org/officeDocument/2006/relationships/notesMaster" Target="/ppt/notesMasters/notesMaster1.xml" Id="R99d6b649102240ad" /></Relationships>
</file>

<file path=ppt/notesSlides/_rels/notesSlide2.xml.rels>&#65279;<?xml version="1.0" encoding="utf-8"?><Relationships xmlns="http://schemas.openxmlformats.org/package/2006/relationships"><Relationship Type="http://schemas.openxmlformats.org/officeDocument/2006/relationships/slide" Target="/ppt/slides/slide2.xml" Id="R4a05d929f8a84d26" /><Relationship Type="http://schemas.openxmlformats.org/officeDocument/2006/relationships/notesMaster" Target="/ppt/notesMasters/notesMaster1.xml" Id="Rc1f4702caf9f4833" /></Relationships>
</file>

<file path=ppt/notesSlides/_rels/notesSlide3.xml.rels>&#65279;<?xml version="1.0" encoding="utf-8"?><Relationships xmlns="http://schemas.openxmlformats.org/package/2006/relationships"><Relationship Type="http://schemas.openxmlformats.org/officeDocument/2006/relationships/slide" Target="/ppt/slides/slide3.xml" Id="Ra34162be2b0b494e" /><Relationship Type="http://schemas.openxmlformats.org/officeDocument/2006/relationships/notesMaster" Target="/ppt/notesMasters/notesMaster1.xml" Id="R7f0e068c658a42f6" /></Relationships>
</file>

<file path=ppt/notesSlides/_rels/notesSlide4.xml.rels>&#65279;<?xml version="1.0" encoding="utf-8"?><Relationships xmlns="http://schemas.openxmlformats.org/package/2006/relationships"><Relationship Type="http://schemas.openxmlformats.org/officeDocument/2006/relationships/slide" Target="/ppt/slides/slide4.xml" Id="R8ab31181c8384597" /><Relationship Type="http://schemas.openxmlformats.org/officeDocument/2006/relationships/notesMaster" Target="/ppt/notesMasters/notesMaster1.xml" Id="Rdab9b2bcc6644c7a" /></Relationships>
</file>

<file path=ppt/notesSlides/_rels/notesSlide5.xml.rels>&#65279;<?xml version="1.0" encoding="utf-8"?><Relationships xmlns="http://schemas.openxmlformats.org/package/2006/relationships"><Relationship Type="http://schemas.openxmlformats.org/officeDocument/2006/relationships/slide" Target="/ppt/slides/slide5.xml" Id="Rd4ca95efa67645dc" /><Relationship Type="http://schemas.openxmlformats.org/officeDocument/2006/relationships/notesMaster" Target="/ppt/notesMasters/notesMaster1.xml" Id="R70a775b9abee40d8" /></Relationships>
</file>

<file path=ppt/notesSlides/_rels/notesSlide6.xml.rels>&#65279;<?xml version="1.0" encoding="utf-8"?><Relationships xmlns="http://schemas.openxmlformats.org/package/2006/relationships"><Relationship Type="http://schemas.openxmlformats.org/officeDocument/2006/relationships/slide" Target="/ppt/slides/slide6.xml" Id="Rc20b34c4383a43b9" /><Relationship Type="http://schemas.openxmlformats.org/officeDocument/2006/relationships/notesMaster" Target="/ppt/notesMasters/notesMaster1.xml" Id="R30b14d28e5ca4d4f" /></Relationships>
</file>

<file path=ppt/notesSlides/_rels/notesSlide7.xml.rels>&#65279;<?xml version="1.0" encoding="utf-8"?><Relationships xmlns="http://schemas.openxmlformats.org/package/2006/relationships"><Relationship Type="http://schemas.openxmlformats.org/officeDocument/2006/relationships/slide" Target="/ppt/slides/slide7.xml" Id="Rcc6e6ca0d2994be5" /><Relationship Type="http://schemas.openxmlformats.org/officeDocument/2006/relationships/notesMaster" Target="/ppt/notesMasters/notesMaster1.xml" Id="R35c734d86c7c4710" /></Relationships>
</file>

<file path=ppt/notesSlides/_rels/notesSlide8.xml.rels>&#65279;<?xml version="1.0" encoding="utf-8"?><Relationships xmlns="http://schemas.openxmlformats.org/package/2006/relationships"><Relationship Type="http://schemas.openxmlformats.org/officeDocument/2006/relationships/slide" Target="/ppt/slides/slide8.xml" Id="Rfb6671a423004648" /><Relationship Type="http://schemas.openxmlformats.org/officeDocument/2006/relationships/notesMaster" Target="/ppt/notesMasters/notesMaster1.xml" Id="R65cabb68716d460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Fictional company for the Starship Ventures retreat pitch competition. Speaker 1 / CEO. Opening: The future of compute is orbital. The future of distribution is Exit 147. We are bringing sovereign AI infrastructure to the most overlooked node in the American economy: the truck stop. Generated concept illustration, not real infrastructure.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CEO: We asked truckers what they needed. They said cleaner showers, cheaper diesel, and Wi-Fi that works. We heard orbital infrastructure. Say the first two sentences seriously, then pause before the last. These customer interviews are fictional parody.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2 / CTO: Our orbital GPUs beam AI to ground stations at truck stops. This powers the most advanced shower queue in human history. AWS has availability zones. We have loading zones. The last-mile metric is fictional pitch logic, not an engineering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CTO: Our entire technical diligence is Will. Will can get it into orbit. Nobody can explain why it belongs there. Source for real professional background only: https://www.starship.vc/team identifies Will Heltsley as an advisor and former SpaceX VP of Propulsion. Advisory relationship to our fictional company is a joke, not a real endorsement. Patrick reports Will is present.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CTO: Each purchase earns airline miles and status. We have four tiers: Diesel, Gold, Platinum, and Divorced. Platinum gets priority shower boarding and complimentary lounge taquitos. Divorced gets twice the miles because now you can finally go somewhere. Handoff to Speaker 3 / Chief Loyalty Officer: But that is only the feature. Here is the business. All benefits are invented.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3 / Chief Loyalty Officer: The satellites are a customer acquisition cost. Pause. We sell miles to our fictional co-branded card partner. Drivers buy status. Redemption is subject to blackout dates, a 97-page rewards policy, and the heat death of the universe. Compute is the demo. The airline loyalty program is the whole business. This is a fictional business model, with no real airline or bank partner.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Chief Loyalty Officer: Why Starship? Sean backs frontier technology, and there is absolutely no civilization anywhere near this business model. Hugo is our Chief Orbital Officer, pending his learning about it right now. To the LPs: we can offer liquidity immediately; there is a soda fountain next to pump seven. Source for names and actual roles: https://www.starship.vc/team. All fictional titles and investment relationships are jokes.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Chief Loyalty Officer: We are raising 69 million dollars, because apparently saying nice counts as investment committee approval. One percent goes to engineering. Ninety-nine percent goes to convincing people they are Platinum. Judge asks about your exit? Exit 147. End immediately. Every number is fictional satire. Suggested total delivery time 3–5 minutes, to be adjusted to competition rules.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522e31105804b9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a6fdbb681184837" /><Relationship Type="http://schemas.openxmlformats.org/officeDocument/2006/relationships/slideLayout" Target="/ppt/slideLayouts/slideLayout1.xml" Id="R4bc33fc63f36464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bc33fc63f36464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2f495d88ab34f1f" /><Relationship Type="http://schemas.openxmlformats.org/officeDocument/2006/relationships/image" Target="/ppt/media/image.png" Id="Rbce1072f64fa4f2a" /><Relationship Type="http://schemas.openxmlformats.org/officeDocument/2006/relationships/notesSlide" Target="/ppt/notesSlides/notesSlide1.xml" Id="Rdb5424c26ad3460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a1f4a2980e84d05" /><Relationship Type="http://schemas.openxmlformats.org/officeDocument/2006/relationships/notesSlide" Target="/ppt/notesSlides/notesSlide2.xml" Id="Rfa9af24f6902495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3fb63b86b084c59" /><Relationship Type="http://schemas.openxmlformats.org/officeDocument/2006/relationships/notesSlide" Target="/ppt/notesSlides/notesSlide3.xml" Id="R2fea2f65e93742f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ea3c94d9ea747ae" /><Relationship Type="http://schemas.openxmlformats.org/officeDocument/2006/relationships/notesSlide" Target="/ppt/notesSlides/notesSlide4.xml" Id="R5951f240d83146b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fe23ed62c7e43a8" /><Relationship Type="http://schemas.openxmlformats.org/officeDocument/2006/relationships/notesSlide" Target="/ppt/notesSlides/notesSlide5.xml" Id="R6bf5aeb9372c4a3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7dec23c0d7342df" /><Relationship Type="http://schemas.openxmlformats.org/officeDocument/2006/relationships/notesSlide" Target="/ppt/notesSlides/notesSlide6.xml" Id="R87934422a816448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7f5263d17b8426e" /><Relationship Type="http://schemas.openxmlformats.org/officeDocument/2006/relationships/notesSlide" Target="/ppt/notesSlides/notesSlide7.xml" Id="R3490e65a4f2b4f6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fc905efe7a14804" /><Relationship Type="http://schemas.openxmlformats.org/officeDocument/2006/relationships/notesSlide" Target="/ppt/notesSlides/notesSlide8.xml" Id="Rd41f174b98c141dc" /></Relationships>
</file>

<file path=ppt/slides/slide1.xml><?xml version="1.0" encoding="utf-8"?>
<p:sld xmlns:p="http://schemas.openxmlformats.org/presentationml/2006/main">
  <p:cSld>
    <p:bg>
      <p:bgPr>
        <a:solidFill xmlns:a="http://schemas.openxmlformats.org/drawingml/2006/main">
          <a:srgbClr val="080D16"/>
        </a:solidFill>
      </p:bgPr>
    </p:bg>
    <p:spTree>
      <p:nvGrpSpPr>
        <p:cNvPr id="1" name=""/>
        <p:cNvGrpSpPr/>
        <p:nvPr/>
      </p:nvGrpSpPr>
      <p:grpSpPr>
        <a:xfrm xmlns:a="http://schemas.openxmlformats.org/drawingml/2006/main"/>
      </p:grpSpPr>
      <p:pic>
        <p:nvPicPr>
          <p:cNvPr id="5" name=""/>
          <p:cNvPicPr>
            <a:picLocks xmlns:a="http://schemas.openxmlformats.org/drawingml/2006/main" noChangeAspect="1"/>
          </p:cNvPicPr>
          <p:nvPr/>
        </p:nvPicPr>
        <p:blipFill>
          <a:blip xmlns:r="http://schemas.openxmlformats.org/officeDocument/2006/relationships" xmlns:a="http://schemas.openxmlformats.org/drawingml/2006/main" r:embed="Rbce1072f64fa4f2a"/>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5B92D96-7259-41DE-AC30-3E0FB1274774}"/>
              </a:ext>
            </a:extLst>
          </p:cNvPr>
          <p:cNvSpPr>
            <a:spLocks xmlns:a="http://schemas.openxmlformats.org/drawingml/2006/main" noGrp="1"/>
          </p:cNvSpPr>
          <p:nvPr/>
        </p:nvSpPr>
        <p:spPr>
          <a:xfrm xmlns:a="http://schemas.openxmlformats.org/drawingml/2006/main">
            <a:off x="552450" y="1809750"/>
            <a:ext cx="67627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F5F4ED"/>
                </a:solidFill>
                <a:latin typeface="Arial"/>
                <a:ea typeface="Arial"/>
                <a:cs typeface="Arial"/>
              </a:defRPr>
            </a:pPr>
            <a:r>
              <a:rPr sz="5700" b="1">
                <a:solidFill>
                  <a:srgbClr val="F5F4ED"/>
                </a:solidFill>
                <a:latin typeface="Arial"/>
                <a:ea typeface="Arial"/>
                <a:cs typeface="Arial"/>
              </a:rPr>
              <a:t>LOW ORBIT,</a:t>
            </a:r>
          </a:p>
          <a:p xmlns:a="http://schemas.openxmlformats.org/drawingml/2006/main">
            <a:pPr>
              <a:defRPr sz="5700" b="1">
                <a:solidFill>
                  <a:srgbClr val="F5F4ED"/>
                </a:solidFill>
                <a:latin typeface="Arial"/>
                <a:ea typeface="Arial"/>
                <a:cs typeface="Arial"/>
              </a:defRPr>
            </a:pPr>
            <a:r>
              <a:rPr sz="5700" b="1">
                <a:solidFill>
                  <a:srgbClr val="F5F4ED"/>
                </a:solidFill>
                <a:latin typeface="Arial"/>
                <a:ea typeface="Arial"/>
                <a:cs typeface="Arial"/>
              </a:rPr>
              <a:t>HIGH STATUS</a:t>
            </a:r>
          </a:p>
        </p:txBody>
      </p:sp>
      <p:sp>
        <p:nvSpPr>
          <p:cNvPr id="3" name="">
            <a:extLst xmlns:a="http://schemas.openxmlformats.org/drawingml/2006/main">
              <a:ext uri="{FF2B5EF4-FFF2-40B4-BE49-F238E27FC236}">
                <a16:creationId xmlns:a16="http://schemas.microsoft.com/office/drawing/2014/main" id="{FD6022C3-4C84-4775-B357-D0FC1A12D59B}"/>
              </a:ext>
            </a:extLst>
          </p:cNvPr>
          <p:cNvSpPr>
            <a:spLocks xmlns:a="http://schemas.openxmlformats.org/drawingml/2006/main" noGrp="1"/>
          </p:cNvSpPr>
          <p:nvPr/>
        </p:nvSpPr>
        <p:spPr>
          <a:xfrm xmlns:a="http://schemas.openxmlformats.org/drawingml/2006/main">
            <a:off x="590550" y="4076700"/>
            <a:ext cx="666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F5F4ED"/>
                </a:solidFill>
                <a:latin typeface="Arial"/>
                <a:ea typeface="Arial"/>
                <a:cs typeface="Arial"/>
              </a:defRPr>
            </a:pPr>
            <a:r>
              <a:rPr sz="2100" b="0">
                <a:solidFill>
                  <a:srgbClr val="F5F4ED"/>
                </a:solidFill>
                <a:latin typeface="Arial"/>
                <a:ea typeface="Arial"/>
                <a:cs typeface="Arial"/>
              </a:rPr>
              <a:t>Orbital compute. Interstate ambition.</a:t>
            </a:r>
          </a:p>
        </p:txBody>
      </p:sp>
      <p:sp>
        <p:nvSpPr>
          <p:cNvPr id="4" name="">
            <a:extLst xmlns:a="http://schemas.openxmlformats.org/drawingml/2006/main">
              <a:ext uri="{FF2B5EF4-FFF2-40B4-BE49-F238E27FC236}">
                <a16:creationId xmlns:a16="http://schemas.microsoft.com/office/drawing/2014/main" id="{D47FDFA0-5AEA-4251-BDC5-AA7F74982C53}"/>
              </a:ext>
            </a:extLst>
          </p:cNvPr>
          <p:cNvSpPr>
            <a:spLocks xmlns:a="http://schemas.openxmlformats.org/drawingml/2006/main" noGrp="1"/>
          </p:cNvSpPr>
          <p:nvPr/>
        </p:nvSpPr>
        <p:spPr>
          <a:xfrm xmlns:a="http://schemas.openxmlformats.org/drawingml/2006/main">
            <a:off x="590550" y="6200775"/>
            <a:ext cx="619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9EAAB8"/>
                </a:solidFill>
                <a:latin typeface="Arial"/>
                <a:ea typeface="Arial"/>
                <a:cs typeface="Arial"/>
              </a:defRPr>
            </a:pPr>
            <a:r>
              <a:rPr sz="1200" b="0">
                <a:solidFill>
                  <a:srgbClr val="9EAAB8"/>
                </a:solidFill>
                <a:latin typeface="Arial"/>
                <a:ea typeface="Arial"/>
                <a:cs typeface="Arial"/>
              </a:rPr>
              <a:t>A FICTIONAL RETREAT PITCH</a:t>
            </a:r>
          </a:p>
        </p:txBody>
      </p:sp>
    </p:spTree>
    <p:extLst>
      <p:ext uri="{BB962C8B-B14F-4D97-AF65-F5344CB8AC3E}">
        <p14:creationId xmlns:p14="http://schemas.microsoft.com/office/powerpoint/2010/main" val="518196527"/>
      </p:ext>
    </p:extLst>
  </p:cSld>
</p:sld>
</file>

<file path=ppt/slides/slide2.xml><?xml version="1.0" encoding="utf-8"?>
<p:sld xmlns:p="http://schemas.openxmlformats.org/presentationml/2006/main">
  <p:cSld>
    <p:bg>
      <p:bgPr>
        <a:solidFill xmlns:a="http://schemas.openxmlformats.org/drawingml/2006/main">
          <a:srgbClr val="080D16"/>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753C78E8-A217-46CD-A8E6-09D95D49BA48}"/>
              </a:ext>
            </a:extLst>
          </p:cNvPr>
          <p:cNvSpPr>
            <a:spLocks xmlns:a="http://schemas.openxmlformats.org/drawingml/2006/main" noGrp="1"/>
          </p:cNvSpPr>
          <p:nvPr/>
        </p:nvSpPr>
        <p:spPr>
          <a:xfrm xmlns:a="http://schemas.openxmlformats.org/drawingml/2006/main">
            <a:off x="609600" y="457200"/>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C5FF44"/>
                </a:solidFill>
                <a:latin typeface="Arial"/>
                <a:ea typeface="Arial"/>
                <a:cs typeface="Arial"/>
              </a:defRPr>
            </a:pPr>
            <a:r>
              <a:rPr sz="1725" b="1">
                <a:solidFill>
                  <a:srgbClr val="C5FF44"/>
                </a:solidFill>
                <a:latin typeface="Arial"/>
                <a:ea typeface="Arial"/>
                <a:cs typeface="Arial"/>
              </a:rPr>
              <a:t>CUSTOMER DISCOVERY</a:t>
            </a:r>
          </a:p>
        </p:txBody>
      </p:sp>
      <p:sp>
        <p:nvSpPr>
          <p:cNvPr id="2" name="">
            <a:extLst xmlns:a="http://schemas.openxmlformats.org/drawingml/2006/main">
              <a:ext uri="{FF2B5EF4-FFF2-40B4-BE49-F238E27FC236}">
                <a16:creationId xmlns:a16="http://schemas.microsoft.com/office/drawing/2014/main" id="{D9A5047F-39D2-43BC-9CC1-52F2B861CE98}"/>
              </a:ext>
            </a:extLst>
          </p:cNvPr>
          <p:cNvSpPr>
            <a:spLocks xmlns:a="http://schemas.openxmlformats.org/drawingml/2006/main" noGrp="1"/>
          </p:cNvSpPr>
          <p:nvPr/>
        </p:nvSpPr>
        <p:spPr>
          <a:xfrm xmlns:a="http://schemas.openxmlformats.org/drawingml/2006/main">
            <a:off x="609600" y="1400175"/>
            <a:ext cx="10763250" cy="2209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F5F4ED"/>
                </a:solidFill>
                <a:latin typeface="Arial"/>
                <a:ea typeface="Arial"/>
                <a:cs typeface="Arial"/>
              </a:defRPr>
            </a:pPr>
            <a:r>
              <a:rPr sz="5700" b="1">
                <a:solidFill>
                  <a:srgbClr val="F5F4ED"/>
                </a:solidFill>
                <a:latin typeface="Arial"/>
                <a:ea typeface="Arial"/>
                <a:cs typeface="Arial"/>
              </a:rPr>
              <a:t>“We want</a:t>
            </a:r>
          </a:p>
          <a:p xmlns:a="http://schemas.openxmlformats.org/drawingml/2006/main">
            <a:pPr>
              <a:defRPr sz="5700" b="1">
                <a:solidFill>
                  <a:srgbClr val="F5F4ED"/>
                </a:solidFill>
                <a:latin typeface="Arial"/>
                <a:ea typeface="Arial"/>
                <a:cs typeface="Arial"/>
              </a:defRPr>
            </a:pPr>
            <a:r>
              <a:rPr sz="5700" b="1">
                <a:solidFill>
                  <a:srgbClr val="F5F4ED"/>
                </a:solidFill>
                <a:latin typeface="Arial"/>
                <a:ea typeface="Arial"/>
                <a:cs typeface="Arial"/>
              </a:rPr>
              <a:t>cleaner showers.”</a:t>
            </a:r>
          </a:p>
        </p:txBody>
      </p:sp>
      <p:sp>
        <p:nvSpPr>
          <p:cNvPr id="3" name="">
            <a:extLst xmlns:a="http://schemas.openxmlformats.org/drawingml/2006/main">
              <a:ext uri="{FF2B5EF4-FFF2-40B4-BE49-F238E27FC236}">
                <a16:creationId xmlns:a16="http://schemas.microsoft.com/office/drawing/2014/main" id="{353FA8FC-82E2-463C-A05E-90E3ACE000A7}"/>
              </a:ext>
            </a:extLst>
          </p:cNvPr>
          <p:cNvSpPr>
            <a:spLocks xmlns:a="http://schemas.openxmlformats.org/drawingml/2006/main" noGrp="1"/>
          </p:cNvSpPr>
          <p:nvPr/>
        </p:nvSpPr>
        <p:spPr>
          <a:xfrm xmlns:a="http://schemas.openxmlformats.org/drawingml/2006/main">
            <a:off x="647700" y="4705350"/>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0">
                <a:solidFill>
                  <a:srgbClr val="9EAAB8"/>
                </a:solidFill>
                <a:latin typeface="Arial"/>
                <a:ea typeface="Arial"/>
                <a:cs typeface="Arial"/>
              </a:defRPr>
            </a:pPr>
            <a:r>
              <a:rPr sz="3150" b="0">
                <a:solidFill>
                  <a:srgbClr val="9EAAB8"/>
                </a:solidFill>
                <a:latin typeface="Arial"/>
                <a:ea typeface="Arial"/>
                <a:cs typeface="Arial"/>
              </a:rPr>
              <a:t>We heard orbital infrastructure.</a:t>
            </a:r>
          </a:p>
        </p:txBody>
      </p:sp>
    </p:spTree>
    <p:extLst>
      <p:ext uri="{BB962C8B-B14F-4D97-AF65-F5344CB8AC3E}">
        <p14:creationId xmlns:p14="http://schemas.microsoft.com/office/powerpoint/2010/main" val="819330506"/>
      </p:ext>
    </p:extLst>
  </p:cSld>
</p:sld>
</file>

<file path=ppt/slides/slide3.xml><?xml version="1.0" encoding="utf-8"?>
<p:sld xmlns:p="http://schemas.openxmlformats.org/presentationml/2006/main">
  <p:cSld>
    <p:bg>
      <p:bgPr>
        <a:solidFill xmlns:a="http://schemas.openxmlformats.org/drawingml/2006/main">
          <a:srgbClr val="080D16"/>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EFD46D4-7EED-4899-81CE-AA174BDDE2C1}"/>
              </a:ext>
            </a:extLst>
          </p:cNvPr>
          <p:cNvSpPr>
            <a:spLocks xmlns:a="http://schemas.openxmlformats.org/drawingml/2006/main" noGrp="1"/>
          </p:cNvSpPr>
          <p:nvPr/>
        </p:nvSpPr>
        <p:spPr>
          <a:xfrm xmlns:a="http://schemas.openxmlformats.org/drawingml/2006/main">
            <a:off x="609600" y="457200"/>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C5FF44"/>
                </a:solidFill>
                <a:latin typeface="Arial"/>
                <a:ea typeface="Arial"/>
                <a:cs typeface="Arial"/>
              </a:defRPr>
            </a:pPr>
            <a:r>
              <a:rPr sz="1725" b="1">
                <a:solidFill>
                  <a:srgbClr val="C5FF44"/>
                </a:solidFill>
                <a:latin typeface="Arial"/>
                <a:ea typeface="Arial"/>
                <a:cs typeface="Arial"/>
              </a:rPr>
              <a:t>OUR ARCHITECTURE</a:t>
            </a:r>
          </a:p>
        </p:txBody>
      </p:sp>
      <p:sp>
        <p:nvSpPr>
          <p:cNvPr id="2" name="">
            <a:extLst xmlns:a="http://schemas.openxmlformats.org/drawingml/2006/main">
              <a:ext uri="{FF2B5EF4-FFF2-40B4-BE49-F238E27FC236}">
                <a16:creationId xmlns:a16="http://schemas.microsoft.com/office/drawing/2014/main" id="{089E3AAE-88FA-426A-BB19-CF2CC51C4AA4}"/>
              </a:ext>
            </a:extLst>
          </p:cNvPr>
          <p:cNvSpPr>
            <a:spLocks xmlns:a="http://schemas.openxmlformats.org/drawingml/2006/main" noGrp="1"/>
          </p:cNvSpPr>
          <p:nvPr/>
        </p:nvSpPr>
        <p:spPr>
          <a:xfrm xmlns:a="http://schemas.openxmlformats.org/drawingml/2006/main">
            <a:off x="609600" y="1333500"/>
            <a:ext cx="107632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900" b="1">
                <a:solidFill>
                  <a:srgbClr val="F5F4ED"/>
                </a:solidFill>
                <a:latin typeface="Arial"/>
                <a:ea typeface="Arial"/>
                <a:cs typeface="Arial"/>
              </a:defRPr>
            </a:pPr>
            <a:r>
              <a:rPr sz="9900" b="1">
                <a:solidFill>
                  <a:srgbClr val="F5F4ED"/>
                </a:solidFill>
                <a:latin typeface="Arial"/>
                <a:ea typeface="Arial"/>
                <a:cs typeface="Arial"/>
              </a:rPr>
              <a:t>400 km</a:t>
            </a:r>
          </a:p>
        </p:txBody>
      </p:sp>
      <p:sp>
        <p:nvSpPr>
          <p:cNvPr id="3" name="">
            <a:extLst xmlns:a="http://schemas.openxmlformats.org/drawingml/2006/main">
              <a:ext uri="{FF2B5EF4-FFF2-40B4-BE49-F238E27FC236}">
                <a16:creationId xmlns:a16="http://schemas.microsoft.com/office/drawing/2014/main" id="{F297B9BC-A052-478B-884B-5A8A59292C36}"/>
              </a:ext>
            </a:extLst>
          </p:cNvPr>
          <p:cNvSpPr>
            <a:spLocks xmlns:a="http://schemas.openxmlformats.org/drawingml/2006/main" noGrp="1"/>
          </p:cNvSpPr>
          <p:nvPr/>
        </p:nvSpPr>
        <p:spPr>
          <a:xfrm xmlns:a="http://schemas.openxmlformats.org/drawingml/2006/main">
            <a:off x="685800" y="3076575"/>
            <a:ext cx="10001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0">
                <a:solidFill>
                  <a:srgbClr val="F5F4ED"/>
                </a:solidFill>
                <a:latin typeface="Arial"/>
                <a:ea typeface="Arial"/>
                <a:cs typeface="Arial"/>
              </a:defRPr>
            </a:pPr>
            <a:r>
              <a:rPr sz="3450" b="0">
                <a:solidFill>
                  <a:srgbClr val="F5F4ED"/>
                </a:solidFill>
                <a:latin typeface="Arial"/>
                <a:ea typeface="Arial"/>
                <a:cs typeface="Arial"/>
              </a:rPr>
              <a:t>from the customer</a:t>
            </a:r>
          </a:p>
        </p:txBody>
      </p:sp>
      <p:sp>
        <p:nvSpPr>
          <p:cNvPr id="4" name="">
            <a:extLst xmlns:a="http://schemas.openxmlformats.org/drawingml/2006/main">
              <a:ext uri="{FF2B5EF4-FFF2-40B4-BE49-F238E27FC236}">
                <a16:creationId xmlns:a16="http://schemas.microsoft.com/office/drawing/2014/main" id="{9D864325-95D8-4660-A235-4C47C99F5E93}"/>
              </a:ext>
            </a:extLst>
          </p:cNvPr>
          <p:cNvSpPr>
            <a:spLocks xmlns:a="http://schemas.openxmlformats.org/drawingml/2006/main" noGrp="1"/>
          </p:cNvSpPr>
          <p:nvPr/>
        </p:nvSpPr>
        <p:spPr>
          <a:xfrm xmlns:a="http://schemas.openxmlformats.org/drawingml/2006/main">
            <a:off x="685800" y="451485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9EAAB8"/>
                </a:solidFill>
                <a:latin typeface="Arial"/>
                <a:ea typeface="Arial"/>
                <a:cs typeface="Arial"/>
              </a:defRPr>
            </a:pPr>
            <a:r>
              <a:rPr sz="2100" b="0">
                <a:solidFill>
                  <a:srgbClr val="9EAAB8"/>
                </a:solidFill>
                <a:latin typeface="Arial"/>
                <a:ea typeface="Arial"/>
                <a:cs typeface="Arial"/>
              </a:rPr>
              <a:t>Orbital GPUs  /  Truck-stop ground stations  /  Shower queue</a:t>
            </a:r>
          </a:p>
        </p:txBody>
      </p:sp>
      <p:sp>
        <p:nvSpPr>
          <p:cNvPr id="5" name="">
            <a:extLst xmlns:a="http://schemas.openxmlformats.org/drawingml/2006/main">
              <a:ext uri="{FF2B5EF4-FFF2-40B4-BE49-F238E27FC236}">
                <a16:creationId xmlns:a16="http://schemas.microsoft.com/office/drawing/2014/main" id="{C42092F1-1849-4A33-8874-C6460DCA5445}"/>
              </a:ext>
            </a:extLst>
          </p:cNvPr>
          <p:cNvSpPr>
            <a:spLocks xmlns:a="http://schemas.openxmlformats.org/drawingml/2006/main" noGrp="1"/>
          </p:cNvSpPr>
          <p:nvPr/>
        </p:nvSpPr>
        <p:spPr>
          <a:xfrm xmlns:a="http://schemas.openxmlformats.org/drawingml/2006/main">
            <a:off x="685800" y="5543550"/>
            <a:ext cx="106203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C5FF44"/>
                </a:solidFill>
                <a:latin typeface="Arial"/>
                <a:ea typeface="Arial"/>
                <a:cs typeface="Arial"/>
              </a:defRPr>
            </a:pPr>
            <a:r>
              <a:rPr sz="2250" b="0">
                <a:solidFill>
                  <a:srgbClr val="C5FF44"/>
                </a:solidFill>
                <a:latin typeface="Arial"/>
                <a:ea typeface="Arial"/>
                <a:cs typeface="Arial"/>
              </a:rPr>
              <a:t>We solved the last mile by adding 250 miles vertically.</a:t>
            </a:r>
          </a:p>
        </p:txBody>
      </p:sp>
    </p:spTree>
    <p:extLst>
      <p:ext uri="{BB962C8B-B14F-4D97-AF65-F5344CB8AC3E}">
        <p14:creationId xmlns:p14="http://schemas.microsoft.com/office/powerpoint/2010/main" val="415421805"/>
      </p:ext>
    </p:extLst>
  </p:cSld>
</p:sld>
</file>

<file path=ppt/slides/slide4.xml><?xml version="1.0" encoding="utf-8"?>
<p:sld xmlns:p="http://schemas.openxmlformats.org/presentationml/2006/main">
  <p:cSld>
    <p:bg>
      <p:bgPr>
        <a:solidFill xmlns:a="http://schemas.openxmlformats.org/drawingml/2006/main">
          <a:srgbClr val="080D16"/>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AA775EE-8D97-4325-BF7C-D563713896BA}"/>
              </a:ext>
            </a:extLst>
          </p:cNvPr>
          <p:cNvSpPr>
            <a:spLocks xmlns:a="http://schemas.openxmlformats.org/drawingml/2006/main" noGrp="1"/>
          </p:cNvSpPr>
          <p:nvPr/>
        </p:nvSpPr>
        <p:spPr>
          <a:xfrm xmlns:a="http://schemas.openxmlformats.org/drawingml/2006/main">
            <a:off x="609600" y="457200"/>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C5FF44"/>
                </a:solidFill>
                <a:latin typeface="Arial"/>
                <a:ea typeface="Arial"/>
                <a:cs typeface="Arial"/>
              </a:defRPr>
            </a:pPr>
            <a:r>
              <a:rPr sz="1725" b="1">
                <a:solidFill>
                  <a:srgbClr val="C5FF44"/>
                </a:solidFill>
                <a:latin typeface="Arial"/>
                <a:ea typeface="Arial"/>
                <a:cs typeface="Arial"/>
              </a:rPr>
              <a:t>TECHNICAL RISK</a:t>
            </a:r>
          </a:p>
        </p:txBody>
      </p:sp>
      <p:sp>
        <p:nvSpPr>
          <p:cNvPr id="2" name="">
            <a:extLst xmlns:a="http://schemas.openxmlformats.org/drawingml/2006/main">
              <a:ext uri="{FF2B5EF4-FFF2-40B4-BE49-F238E27FC236}">
                <a16:creationId xmlns:a16="http://schemas.microsoft.com/office/drawing/2014/main" id="{FA89335E-49B2-4B29-A6D1-61416AFF136D}"/>
              </a:ext>
            </a:extLst>
          </p:cNvPr>
          <p:cNvSpPr>
            <a:spLocks xmlns:a="http://schemas.openxmlformats.org/drawingml/2006/main" noGrp="1"/>
          </p:cNvSpPr>
          <p:nvPr/>
        </p:nvSpPr>
        <p:spPr>
          <a:xfrm xmlns:a="http://schemas.openxmlformats.org/drawingml/2006/main">
            <a:off x="609600" y="1133475"/>
            <a:ext cx="106680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800" b="1">
                <a:solidFill>
                  <a:srgbClr val="F5F4ED"/>
                </a:solidFill>
                <a:latin typeface="Arial"/>
                <a:ea typeface="Arial"/>
                <a:cs typeface="Arial"/>
              </a:defRPr>
            </a:pPr>
            <a:r>
              <a:rPr sz="13800" b="1">
                <a:solidFill>
                  <a:srgbClr val="F5F4ED"/>
                </a:solidFill>
                <a:latin typeface="Arial"/>
                <a:ea typeface="Arial"/>
                <a:cs typeface="Arial"/>
              </a:rPr>
              <a:t>WILL.</a:t>
            </a:r>
          </a:p>
        </p:txBody>
      </p:sp>
      <p:sp>
        <p:nvSpPr>
          <p:cNvPr id="3" name="">
            <a:extLst xmlns:a="http://schemas.openxmlformats.org/drawingml/2006/main">
              <a:ext uri="{FF2B5EF4-FFF2-40B4-BE49-F238E27FC236}">
                <a16:creationId xmlns:a16="http://schemas.microsoft.com/office/drawing/2014/main" id="{8BCAE4BC-42F8-4E9E-BBE8-D63EC4956CD5}"/>
              </a:ext>
            </a:extLst>
          </p:cNvPr>
          <p:cNvSpPr>
            <a:spLocks xmlns:a="http://schemas.openxmlformats.org/drawingml/2006/main" noGrp="1"/>
          </p:cNvSpPr>
          <p:nvPr/>
        </p:nvSpPr>
        <p:spPr>
          <a:xfrm xmlns:a="http://schemas.openxmlformats.org/drawingml/2006/main">
            <a:off x="714375" y="3590925"/>
            <a:ext cx="9906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C5FF44"/>
                </a:solidFill>
                <a:latin typeface="Arial"/>
                <a:ea typeface="Arial"/>
                <a:cs typeface="Arial"/>
              </a:defRPr>
            </a:pPr>
            <a:r>
              <a:rPr sz="3300" b="1">
                <a:solidFill>
                  <a:srgbClr val="C5FF44"/>
                </a:solidFill>
                <a:latin typeface="Arial"/>
                <a:ea typeface="Arial"/>
                <a:cs typeface="Arial"/>
              </a:rPr>
              <a:t>Will Heltsley</a:t>
            </a:r>
          </a:p>
        </p:txBody>
      </p:sp>
      <p:sp>
        <p:nvSpPr>
          <p:cNvPr id="4" name="">
            <a:extLst xmlns:a="http://schemas.openxmlformats.org/drawingml/2006/main">
              <a:ext uri="{FF2B5EF4-FFF2-40B4-BE49-F238E27FC236}">
                <a16:creationId xmlns:a16="http://schemas.microsoft.com/office/drawing/2014/main" id="{7296C16D-CDE9-4F39-B4C6-85F9224642A2}"/>
              </a:ext>
            </a:extLst>
          </p:cNvPr>
          <p:cNvSpPr>
            <a:spLocks xmlns:a="http://schemas.openxmlformats.org/drawingml/2006/main" noGrp="1"/>
          </p:cNvSpPr>
          <p:nvPr/>
        </p:nvSpPr>
        <p:spPr>
          <a:xfrm xmlns:a="http://schemas.openxmlformats.org/drawingml/2006/main">
            <a:off x="714375" y="4581525"/>
            <a:ext cx="104775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F5F4ED"/>
                </a:solidFill>
                <a:latin typeface="Arial"/>
                <a:ea typeface="Arial"/>
                <a:cs typeface="Arial"/>
              </a:defRPr>
            </a:pPr>
            <a:r>
              <a:rPr sz="2850" b="0">
                <a:solidFill>
                  <a:srgbClr val="F5F4ED"/>
                </a:solidFill>
                <a:latin typeface="Arial"/>
                <a:ea typeface="Arial"/>
                <a:cs typeface="Arial"/>
              </a:rPr>
              <a:t>He can get it into orbit.</a:t>
            </a:r>
          </a:p>
          <a:p xmlns:a="http://schemas.openxmlformats.org/drawingml/2006/main">
            <a:pPr>
              <a:defRPr sz="2850" b="0">
                <a:solidFill>
                  <a:srgbClr val="F5F4ED"/>
                </a:solidFill>
                <a:latin typeface="Arial"/>
                <a:ea typeface="Arial"/>
                <a:cs typeface="Arial"/>
              </a:defRPr>
            </a:pPr>
            <a:r>
              <a:rPr sz="2850" b="0">
                <a:solidFill>
                  <a:srgbClr val="F5F4ED"/>
                </a:solidFill>
                <a:latin typeface="Arial"/>
                <a:ea typeface="Arial"/>
                <a:cs typeface="Arial"/>
              </a:rPr>
              <a:t>Nobody can explain why it belongs there.</a:t>
            </a:r>
          </a:p>
        </p:txBody>
      </p:sp>
      <p:sp>
        <p:nvSpPr>
          <p:cNvPr id="5" name="">
            <a:extLst xmlns:a="http://schemas.openxmlformats.org/drawingml/2006/main">
              <a:ext uri="{FF2B5EF4-FFF2-40B4-BE49-F238E27FC236}">
                <a16:creationId xmlns:a16="http://schemas.microsoft.com/office/drawing/2014/main" id="{595C3F4E-CE52-47F9-925F-228BF97F9964}"/>
              </a:ext>
            </a:extLst>
          </p:cNvPr>
          <p:cNvSpPr>
            <a:spLocks xmlns:a="http://schemas.openxmlformats.org/drawingml/2006/main" noGrp="1"/>
          </p:cNvSpPr>
          <p:nvPr/>
        </p:nvSpPr>
        <p:spPr>
          <a:xfrm xmlns:a="http://schemas.openxmlformats.org/drawingml/2006/main">
            <a:off x="714375" y="6162675"/>
            <a:ext cx="952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9EAAB8"/>
                </a:solidFill>
                <a:latin typeface="Arial"/>
                <a:ea typeface="Arial"/>
                <a:cs typeface="Arial"/>
              </a:defRPr>
            </a:pPr>
            <a:r>
              <a:rPr sz="1500" b="0">
                <a:solidFill>
                  <a:srgbClr val="9EAAB8"/>
                </a:solidFill>
                <a:latin typeface="Arial"/>
                <a:ea typeface="Arial"/>
                <a:cs typeface="Arial"/>
              </a:rPr>
              <a:t>Advisor status: within earshot.</a:t>
            </a:r>
          </a:p>
        </p:txBody>
      </p:sp>
    </p:spTree>
    <p:extLst>
      <p:ext uri="{BB962C8B-B14F-4D97-AF65-F5344CB8AC3E}">
        <p14:creationId xmlns:p14="http://schemas.microsoft.com/office/powerpoint/2010/main" val="1909092018"/>
      </p:ext>
    </p:extLst>
  </p:cSld>
</p:sld>
</file>

<file path=ppt/slides/slide5.xml><?xml version="1.0" encoding="utf-8"?>
<p:sld xmlns:p="http://schemas.openxmlformats.org/presentationml/2006/main">
  <p:cSld>
    <p:bg>
      <p:bgPr>
        <a:solidFill xmlns:a="http://schemas.openxmlformats.org/drawingml/2006/main">
          <a:srgbClr val="080D16"/>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F1863CE-E51B-4D4F-B2FE-61B8CC79C5AF}"/>
              </a:ext>
            </a:extLst>
          </p:cNvPr>
          <p:cNvSpPr>
            <a:spLocks xmlns:a="http://schemas.openxmlformats.org/drawingml/2006/main" noGrp="1"/>
          </p:cNvSpPr>
          <p:nvPr/>
        </p:nvSpPr>
        <p:spPr>
          <a:xfrm xmlns:a="http://schemas.openxmlformats.org/drawingml/2006/main">
            <a:off x="609600" y="457200"/>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C5FF44"/>
                </a:solidFill>
                <a:latin typeface="Arial"/>
                <a:ea typeface="Arial"/>
                <a:cs typeface="Arial"/>
              </a:defRPr>
            </a:pPr>
            <a:r>
              <a:rPr sz="1725" b="1">
                <a:solidFill>
                  <a:srgbClr val="C5FF44"/>
                </a:solidFill>
                <a:latin typeface="Arial"/>
                <a:ea typeface="Arial"/>
                <a:cs typeface="Arial"/>
              </a:rPr>
              <a:t>THE PRODUCT</a:t>
            </a:r>
          </a:p>
        </p:txBody>
      </p:sp>
      <p:sp>
        <p:nvSpPr>
          <p:cNvPr id="2" name="">
            <a:extLst xmlns:a="http://schemas.openxmlformats.org/drawingml/2006/main">
              <a:ext uri="{FF2B5EF4-FFF2-40B4-BE49-F238E27FC236}">
                <a16:creationId xmlns:a16="http://schemas.microsoft.com/office/drawing/2014/main" id="{C5F7BE34-97CF-417A-A7B9-65377D16C943}"/>
              </a:ext>
            </a:extLst>
          </p:cNvPr>
          <p:cNvSpPr>
            <a:spLocks xmlns:a="http://schemas.openxmlformats.org/drawingml/2006/main" noGrp="1"/>
          </p:cNvSpPr>
          <p:nvPr/>
        </p:nvSpPr>
        <p:spPr>
          <a:xfrm xmlns:a="http://schemas.openxmlformats.org/drawingml/2006/main">
            <a:off x="609600" y="1323975"/>
            <a:ext cx="10858500"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F5F4ED"/>
                </a:solidFill>
                <a:latin typeface="Arial"/>
                <a:ea typeface="Arial"/>
                <a:cs typeface="Arial"/>
              </a:defRPr>
            </a:pPr>
            <a:r>
              <a:rPr sz="5700" b="1">
                <a:solidFill>
                  <a:srgbClr val="F5F4ED"/>
                </a:solidFill>
                <a:latin typeface="Arial"/>
                <a:ea typeface="Arial"/>
                <a:cs typeface="Arial"/>
              </a:rPr>
              <a:t>Diesel. Gold.</a:t>
            </a:r>
          </a:p>
          <a:p xmlns:a="http://schemas.openxmlformats.org/drawingml/2006/main">
            <a:pPr>
              <a:defRPr sz="5700" b="1">
                <a:solidFill>
                  <a:srgbClr val="F5F4ED"/>
                </a:solidFill>
                <a:latin typeface="Arial"/>
                <a:ea typeface="Arial"/>
                <a:cs typeface="Arial"/>
              </a:defRPr>
            </a:pPr>
            <a:r>
              <a:rPr sz="5700" b="1">
                <a:solidFill>
                  <a:srgbClr val="F5F4ED"/>
                </a:solidFill>
                <a:latin typeface="Arial"/>
                <a:ea typeface="Arial"/>
                <a:cs typeface="Arial"/>
              </a:rPr>
              <a:t>Platinum. Divorced.</a:t>
            </a:r>
          </a:p>
        </p:txBody>
      </p:sp>
      <p:sp>
        <p:nvSpPr>
          <p:cNvPr id="3" name="">
            <a:extLst xmlns:a="http://schemas.openxmlformats.org/drawingml/2006/main">
              <a:ext uri="{FF2B5EF4-FFF2-40B4-BE49-F238E27FC236}">
                <a16:creationId xmlns:a16="http://schemas.microsoft.com/office/drawing/2014/main" id="{C8FE1DDB-3DF6-49F9-B520-2EF89945ACC4}"/>
              </a:ext>
            </a:extLst>
          </p:cNvPr>
          <p:cNvSpPr>
            <a:spLocks xmlns:a="http://schemas.openxmlformats.org/drawingml/2006/main" noGrp="1"/>
          </p:cNvSpPr>
          <p:nvPr/>
        </p:nvSpPr>
        <p:spPr>
          <a:xfrm xmlns:a="http://schemas.openxmlformats.org/drawingml/2006/main">
            <a:off x="685800" y="3819525"/>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C5FF44"/>
                </a:solidFill>
                <a:latin typeface="Arial"/>
                <a:ea typeface="Arial"/>
                <a:cs typeface="Arial"/>
              </a:defRPr>
            </a:pPr>
            <a:r>
              <a:rPr sz="2850" b="0">
                <a:solidFill>
                  <a:srgbClr val="C5FF44"/>
                </a:solidFill>
                <a:latin typeface="Arial"/>
                <a:ea typeface="Arial"/>
                <a:cs typeface="Arial"/>
              </a:rPr>
              <a:t>Airline miles on every fill-up</a:t>
            </a:r>
          </a:p>
        </p:txBody>
      </p:sp>
      <p:sp>
        <p:nvSpPr>
          <p:cNvPr id="4" name="">
            <a:extLst xmlns:a="http://schemas.openxmlformats.org/drawingml/2006/main">
              <a:ext uri="{FF2B5EF4-FFF2-40B4-BE49-F238E27FC236}">
                <a16:creationId xmlns:a16="http://schemas.microsoft.com/office/drawing/2014/main" id="{F3215DC5-9F06-45AA-96C1-74B498897822}"/>
              </a:ext>
            </a:extLst>
          </p:cNvPr>
          <p:cNvSpPr>
            <a:spLocks xmlns:a="http://schemas.openxmlformats.org/drawingml/2006/main" noGrp="1"/>
          </p:cNvSpPr>
          <p:nvPr/>
        </p:nvSpPr>
        <p:spPr>
          <a:xfrm xmlns:a="http://schemas.openxmlformats.org/drawingml/2006/main">
            <a:off x="685800" y="4876800"/>
            <a:ext cx="10572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9EAAB8"/>
                </a:solidFill>
                <a:latin typeface="Arial"/>
                <a:ea typeface="Arial"/>
                <a:cs typeface="Arial"/>
              </a:defRPr>
            </a:pPr>
            <a:r>
              <a:rPr sz="2400" b="0">
                <a:solidFill>
                  <a:srgbClr val="9EAAB8"/>
                </a:solidFill>
                <a:latin typeface="Arial"/>
                <a:ea typeface="Arial"/>
                <a:cs typeface="Arial"/>
              </a:rPr>
              <a:t>Priority shower boarding. Complimentary lounge taquitos.</a:t>
            </a:r>
          </a:p>
        </p:txBody>
      </p:sp>
    </p:spTree>
    <p:extLst>
      <p:ext uri="{BB962C8B-B14F-4D97-AF65-F5344CB8AC3E}">
        <p14:creationId xmlns:p14="http://schemas.microsoft.com/office/powerpoint/2010/main" val="558298000"/>
      </p:ext>
    </p:extLst>
  </p:cSld>
</p:sld>
</file>

<file path=ppt/slides/slide6.xml><?xml version="1.0" encoding="utf-8"?>
<p:sld xmlns:p="http://schemas.openxmlformats.org/presentationml/2006/main">
  <p:cSld>
    <p:bg>
      <p:bgPr>
        <a:solidFill xmlns:a="http://schemas.openxmlformats.org/drawingml/2006/main">
          <a:srgbClr val="C5FF44"/>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BDBA1A9A-4490-4270-BE82-39DD6A58D6C7}"/>
              </a:ext>
            </a:extLst>
          </p:cNvPr>
          <p:cNvSpPr>
            <a:spLocks xmlns:a="http://schemas.openxmlformats.org/drawingml/2006/main" noGrp="1"/>
          </p:cNvSpPr>
          <p:nvPr/>
        </p:nvSpPr>
        <p:spPr>
          <a:xfrm xmlns:a="http://schemas.openxmlformats.org/drawingml/2006/main">
            <a:off x="609600" y="457200"/>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080D16"/>
                </a:solidFill>
                <a:latin typeface="Arial"/>
                <a:ea typeface="Arial"/>
                <a:cs typeface="Arial"/>
              </a:defRPr>
            </a:pPr>
            <a:r>
              <a:rPr sz="1725" b="1">
                <a:solidFill>
                  <a:srgbClr val="080D16"/>
                </a:solidFill>
                <a:latin typeface="Arial"/>
                <a:ea typeface="Arial"/>
                <a:cs typeface="Arial"/>
              </a:rPr>
              <a:t>THE BUSINESS MODEL</a:t>
            </a:r>
          </a:p>
        </p:txBody>
      </p:sp>
      <p:sp>
        <p:nvSpPr>
          <p:cNvPr id="2" name="">
            <a:extLst xmlns:a="http://schemas.openxmlformats.org/drawingml/2006/main">
              <a:ext uri="{FF2B5EF4-FFF2-40B4-BE49-F238E27FC236}">
                <a16:creationId xmlns:a16="http://schemas.microsoft.com/office/drawing/2014/main" id="{99D07F0C-C852-4081-AB18-A44D1D8C5F0A}"/>
              </a:ext>
            </a:extLst>
          </p:cNvPr>
          <p:cNvSpPr>
            <a:spLocks xmlns:a="http://schemas.openxmlformats.org/drawingml/2006/main" noGrp="1"/>
          </p:cNvSpPr>
          <p:nvPr/>
        </p:nvSpPr>
        <p:spPr>
          <a:xfrm xmlns:a="http://schemas.openxmlformats.org/drawingml/2006/main">
            <a:off x="609600" y="1381125"/>
            <a:ext cx="10763250"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150" b="1">
                <a:solidFill>
                  <a:srgbClr val="080D16"/>
                </a:solidFill>
                <a:latin typeface="Arial"/>
                <a:ea typeface="Arial"/>
                <a:cs typeface="Arial"/>
              </a:defRPr>
            </a:pPr>
            <a:r>
              <a:rPr sz="6150" b="1">
                <a:solidFill>
                  <a:srgbClr val="080D16"/>
                </a:solidFill>
                <a:latin typeface="Arial"/>
                <a:ea typeface="Arial"/>
                <a:cs typeface="Arial"/>
              </a:rPr>
              <a:t>The satellites are</a:t>
            </a:r>
          </a:p>
          <a:p xmlns:a="http://schemas.openxmlformats.org/drawingml/2006/main">
            <a:pPr>
              <a:defRPr sz="6150" b="1">
                <a:solidFill>
                  <a:srgbClr val="080D16"/>
                </a:solidFill>
                <a:latin typeface="Arial"/>
                <a:ea typeface="Arial"/>
                <a:cs typeface="Arial"/>
              </a:defRPr>
            </a:pPr>
            <a:r>
              <a:rPr sz="6150" b="1">
                <a:solidFill>
                  <a:srgbClr val="080D16"/>
                </a:solidFill>
                <a:latin typeface="Arial"/>
                <a:ea typeface="Arial"/>
                <a:cs typeface="Arial"/>
              </a:rPr>
              <a:t>a customer</a:t>
            </a:r>
          </a:p>
          <a:p xmlns:a="http://schemas.openxmlformats.org/drawingml/2006/main">
            <a:pPr>
              <a:defRPr sz="6150" b="1">
                <a:solidFill>
                  <a:srgbClr val="080D16"/>
                </a:solidFill>
                <a:latin typeface="Arial"/>
                <a:ea typeface="Arial"/>
                <a:cs typeface="Arial"/>
              </a:defRPr>
            </a:pPr>
            <a:r>
              <a:rPr sz="6150" b="1">
                <a:solidFill>
                  <a:srgbClr val="080D16"/>
                </a:solidFill>
                <a:latin typeface="Arial"/>
                <a:ea typeface="Arial"/>
                <a:cs typeface="Arial"/>
              </a:rPr>
              <a:t>acquisition cost.</a:t>
            </a:r>
          </a:p>
        </p:txBody>
      </p:sp>
      <p:sp>
        <p:nvSpPr>
          <p:cNvPr id="3" name="">
            <a:extLst xmlns:a="http://schemas.openxmlformats.org/drawingml/2006/main">
              <a:ext uri="{FF2B5EF4-FFF2-40B4-BE49-F238E27FC236}">
                <a16:creationId xmlns:a16="http://schemas.microsoft.com/office/drawing/2014/main" id="{72113917-CC56-4D10-B1CD-9DB2C04F1805}"/>
              </a:ext>
            </a:extLst>
          </p:cNvPr>
          <p:cNvSpPr>
            <a:spLocks xmlns:a="http://schemas.openxmlformats.org/drawingml/2006/main" noGrp="1"/>
          </p:cNvSpPr>
          <p:nvPr/>
        </p:nvSpPr>
        <p:spPr>
          <a:xfrm xmlns:a="http://schemas.openxmlformats.org/drawingml/2006/main">
            <a:off x="685800" y="5353050"/>
            <a:ext cx="1057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080D16"/>
                </a:solidFill>
                <a:latin typeface="Arial"/>
                <a:ea typeface="Arial"/>
                <a:cs typeface="Arial"/>
              </a:defRPr>
            </a:pPr>
            <a:r>
              <a:rPr sz="2400" b="0">
                <a:solidFill>
                  <a:srgbClr val="080D16"/>
                </a:solidFill>
                <a:latin typeface="Arial"/>
                <a:ea typeface="Arial"/>
                <a:cs typeface="Arial"/>
              </a:rPr>
              <a:t>Sell miles. Collect fees. Monetize status anxiety.</a:t>
            </a:r>
          </a:p>
        </p:txBody>
      </p:sp>
    </p:spTree>
    <p:extLst>
      <p:ext uri="{BB962C8B-B14F-4D97-AF65-F5344CB8AC3E}">
        <p14:creationId xmlns:p14="http://schemas.microsoft.com/office/powerpoint/2010/main" val="496729753"/>
      </p:ext>
    </p:extLst>
  </p:cSld>
</p:sld>
</file>

<file path=ppt/slides/slide7.xml><?xml version="1.0" encoding="utf-8"?>
<p:sld xmlns:p="http://schemas.openxmlformats.org/presentationml/2006/main">
  <p:cSld>
    <p:bg>
      <p:bgPr>
        <a:solidFill xmlns:a="http://schemas.openxmlformats.org/drawingml/2006/main">
          <a:srgbClr val="080D16"/>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ACB4069-C08D-45CA-8686-92E17A232881}"/>
              </a:ext>
            </a:extLst>
          </p:cNvPr>
          <p:cNvSpPr>
            <a:spLocks xmlns:a="http://schemas.openxmlformats.org/drawingml/2006/main" noGrp="1"/>
          </p:cNvSpPr>
          <p:nvPr/>
        </p:nvSpPr>
        <p:spPr>
          <a:xfrm xmlns:a="http://schemas.openxmlformats.org/drawingml/2006/main">
            <a:off x="609600" y="457200"/>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C5FF44"/>
                </a:solidFill>
                <a:latin typeface="Arial"/>
                <a:ea typeface="Arial"/>
                <a:cs typeface="Arial"/>
              </a:defRPr>
            </a:pPr>
            <a:r>
              <a:rPr sz="1725" b="1">
                <a:solidFill>
                  <a:srgbClr val="C5FF44"/>
                </a:solidFill>
                <a:latin typeface="Arial"/>
                <a:ea typeface="Arial"/>
                <a:cs typeface="Arial"/>
              </a:rPr>
              <a:t>WHY STARSHIP</a:t>
            </a:r>
          </a:p>
        </p:txBody>
      </p:sp>
      <p:sp>
        <p:nvSpPr>
          <p:cNvPr id="2" name="">
            <a:extLst xmlns:a="http://schemas.openxmlformats.org/drawingml/2006/main">
              <a:ext uri="{FF2B5EF4-FFF2-40B4-BE49-F238E27FC236}">
                <a16:creationId xmlns:a16="http://schemas.microsoft.com/office/drawing/2014/main" id="{BE049850-28DB-4AF0-8842-F2197DE40C07}"/>
              </a:ext>
            </a:extLst>
          </p:cNvPr>
          <p:cNvSpPr>
            <a:spLocks xmlns:a="http://schemas.openxmlformats.org/drawingml/2006/main" noGrp="1"/>
          </p:cNvSpPr>
          <p:nvPr/>
        </p:nvSpPr>
        <p:spPr>
          <a:xfrm xmlns:a="http://schemas.openxmlformats.org/drawingml/2006/main">
            <a:off x="609600" y="1447800"/>
            <a:ext cx="10858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75" b="1">
                <a:solidFill>
                  <a:srgbClr val="F5F4ED"/>
                </a:solidFill>
                <a:latin typeface="Arial"/>
                <a:ea typeface="Arial"/>
                <a:cs typeface="Arial"/>
              </a:defRPr>
            </a:pPr>
            <a:r>
              <a:rPr sz="5775" b="1">
                <a:solidFill>
                  <a:srgbClr val="F5F4ED"/>
                </a:solidFill>
                <a:latin typeface="Arial"/>
                <a:ea typeface="Arial"/>
                <a:cs typeface="Arial"/>
              </a:rPr>
              <a:t>LP = Loyalty Points</a:t>
            </a:r>
          </a:p>
        </p:txBody>
      </p:sp>
      <p:sp>
        <p:nvSpPr>
          <p:cNvPr id="3" name="">
            <a:extLst xmlns:a="http://schemas.openxmlformats.org/drawingml/2006/main">
              <a:ext uri="{FF2B5EF4-FFF2-40B4-BE49-F238E27FC236}">
                <a16:creationId xmlns:a16="http://schemas.microsoft.com/office/drawing/2014/main" id="{79EC7C35-2F71-4E34-AE38-B02A1F3BAAD4}"/>
              </a:ext>
            </a:extLst>
          </p:cNvPr>
          <p:cNvSpPr>
            <a:spLocks xmlns:a="http://schemas.openxmlformats.org/drawingml/2006/main" noGrp="1"/>
          </p:cNvSpPr>
          <p:nvPr/>
        </p:nvSpPr>
        <p:spPr>
          <a:xfrm xmlns:a="http://schemas.openxmlformats.org/drawingml/2006/main">
            <a:off x="685800" y="3333750"/>
            <a:ext cx="10572750" cy="1638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F5F4ED"/>
                </a:solidFill>
                <a:latin typeface="Arial"/>
                <a:ea typeface="Arial"/>
                <a:cs typeface="Arial"/>
              </a:defRPr>
            </a:pPr>
            <a:r>
              <a:rPr sz="3300" b="0">
                <a:solidFill>
                  <a:srgbClr val="F5F4ED"/>
                </a:solidFill>
                <a:latin typeface="Arial"/>
                <a:ea typeface="Arial"/>
                <a:cs typeface="Arial"/>
              </a:rPr>
              <a:t>Your capital is locked up for ten years.</a:t>
            </a:r>
          </a:p>
          <a:p xmlns:a="http://schemas.openxmlformats.org/drawingml/2006/main">
            <a:pPr>
              <a:defRPr sz="3300" b="0">
                <a:solidFill>
                  <a:srgbClr val="F5F4ED"/>
                </a:solidFill>
                <a:latin typeface="Arial"/>
                <a:ea typeface="Arial"/>
                <a:cs typeface="Arial"/>
              </a:defRPr>
            </a:pPr>
            <a:r>
              <a:rPr sz="3300" b="0">
                <a:solidFill>
                  <a:srgbClr val="F5F4ED"/>
                </a:solidFill>
                <a:latin typeface="Arial"/>
                <a:ea typeface="Arial"/>
                <a:cs typeface="Arial"/>
              </a:rPr>
              <a:t>Your shower credits expire Friday.</a:t>
            </a:r>
          </a:p>
        </p:txBody>
      </p:sp>
      <p:sp>
        <p:nvSpPr>
          <p:cNvPr id="4" name="">
            <a:extLst xmlns:a="http://schemas.openxmlformats.org/drawingml/2006/main">
              <a:ext uri="{FF2B5EF4-FFF2-40B4-BE49-F238E27FC236}">
                <a16:creationId xmlns:a16="http://schemas.microsoft.com/office/drawing/2014/main" id="{B6404D24-694D-4E48-A916-67B328C94E06}"/>
              </a:ext>
            </a:extLst>
          </p:cNvPr>
          <p:cNvSpPr>
            <a:spLocks xmlns:a="http://schemas.openxmlformats.org/drawingml/2006/main" noGrp="1"/>
          </p:cNvSpPr>
          <p:nvPr/>
        </p:nvSpPr>
        <p:spPr>
          <a:xfrm xmlns:a="http://schemas.openxmlformats.org/drawingml/2006/main">
            <a:off x="685800" y="5648325"/>
            <a:ext cx="1057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9EAAB8"/>
                </a:solidFill>
                <a:latin typeface="Arial"/>
                <a:ea typeface="Arial"/>
                <a:cs typeface="Arial"/>
              </a:defRPr>
            </a:pPr>
            <a:r>
              <a:rPr sz="2100" b="0">
                <a:solidFill>
                  <a:srgbClr val="9EAAB8"/>
                </a:solidFill>
                <a:latin typeface="Arial"/>
                <a:ea typeface="Arial"/>
                <a:cs typeface="Arial"/>
              </a:rPr>
              <a:t>Frontier technology. Frontier redemption policies.</a:t>
            </a:r>
          </a:p>
        </p:txBody>
      </p:sp>
    </p:spTree>
    <p:extLst>
      <p:ext uri="{BB962C8B-B14F-4D97-AF65-F5344CB8AC3E}">
        <p14:creationId xmlns:p14="http://schemas.microsoft.com/office/powerpoint/2010/main" val="395154262"/>
      </p:ext>
    </p:extLst>
  </p:cSld>
</p:sld>
</file>

<file path=ppt/slides/slide8.xml><?xml version="1.0" encoding="utf-8"?>
<p:sld xmlns:p="http://schemas.openxmlformats.org/presentationml/2006/main">
  <p:cSld>
    <p:bg>
      <p:bgPr>
        <a:solidFill xmlns:a="http://schemas.openxmlformats.org/drawingml/2006/main">
          <a:srgbClr val="080D16"/>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16CB798-AB1D-4DCB-91B9-493F30729F63}"/>
              </a:ext>
            </a:extLst>
          </p:cNvPr>
          <p:cNvSpPr>
            <a:spLocks xmlns:a="http://schemas.openxmlformats.org/drawingml/2006/main" noGrp="1"/>
          </p:cNvSpPr>
          <p:nvPr/>
        </p:nvSpPr>
        <p:spPr>
          <a:xfrm xmlns:a="http://schemas.openxmlformats.org/drawingml/2006/main">
            <a:off x="609600" y="457200"/>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C5FF44"/>
                </a:solidFill>
                <a:latin typeface="Arial"/>
                <a:ea typeface="Arial"/>
                <a:cs typeface="Arial"/>
              </a:defRPr>
            </a:pPr>
            <a:r>
              <a:rPr sz="1725" b="1">
                <a:solidFill>
                  <a:srgbClr val="C5FF44"/>
                </a:solidFill>
                <a:latin typeface="Arial"/>
                <a:ea typeface="Arial"/>
                <a:cs typeface="Arial"/>
              </a:rPr>
              <a:t>THE ASK</a:t>
            </a:r>
          </a:p>
        </p:txBody>
      </p:sp>
      <p:sp>
        <p:nvSpPr>
          <p:cNvPr id="2" name="">
            <a:extLst xmlns:a="http://schemas.openxmlformats.org/drawingml/2006/main">
              <a:ext uri="{FF2B5EF4-FFF2-40B4-BE49-F238E27FC236}">
                <a16:creationId xmlns:a16="http://schemas.microsoft.com/office/drawing/2014/main" id="{E3AA4639-12B6-43FD-AEDD-777858361ACB}"/>
              </a:ext>
            </a:extLst>
          </p:cNvPr>
          <p:cNvSpPr>
            <a:spLocks xmlns:a="http://schemas.openxmlformats.org/drawingml/2006/main" noGrp="1"/>
          </p:cNvSpPr>
          <p:nvPr/>
        </p:nvSpPr>
        <p:spPr>
          <a:xfrm xmlns:a="http://schemas.openxmlformats.org/drawingml/2006/main">
            <a:off x="609600" y="1219200"/>
            <a:ext cx="1066800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700" b="1">
                <a:solidFill>
                  <a:srgbClr val="F5F4ED"/>
                </a:solidFill>
                <a:latin typeface="Arial"/>
                <a:ea typeface="Arial"/>
                <a:cs typeface="Arial"/>
              </a:defRPr>
            </a:pPr>
            <a:r>
              <a:rPr sz="11700" b="1">
                <a:solidFill>
                  <a:srgbClr val="F5F4ED"/>
                </a:solidFill>
                <a:latin typeface="Arial"/>
                <a:ea typeface="Arial"/>
                <a:cs typeface="Arial"/>
              </a:rPr>
              <a:t>$69M</a:t>
            </a:r>
          </a:p>
        </p:txBody>
      </p:sp>
      <p:sp>
        <p:nvSpPr>
          <p:cNvPr id="3" name="">
            <a:extLst xmlns:a="http://schemas.openxmlformats.org/drawingml/2006/main">
              <a:ext uri="{FF2B5EF4-FFF2-40B4-BE49-F238E27FC236}">
                <a16:creationId xmlns:a16="http://schemas.microsoft.com/office/drawing/2014/main" id="{2BD5AD16-4BC8-4BF6-9074-33910EF91CAB}"/>
              </a:ext>
            </a:extLst>
          </p:cNvPr>
          <p:cNvSpPr>
            <a:spLocks xmlns:a="http://schemas.openxmlformats.org/drawingml/2006/main" noGrp="1"/>
          </p:cNvSpPr>
          <p:nvPr/>
        </p:nvSpPr>
        <p:spPr>
          <a:xfrm xmlns:a="http://schemas.openxmlformats.org/drawingml/2006/main">
            <a:off x="723900" y="3505200"/>
            <a:ext cx="10477500" cy="1228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F5F4ED"/>
                </a:solidFill>
                <a:latin typeface="Arial"/>
                <a:ea typeface="Arial"/>
                <a:cs typeface="Arial"/>
              </a:defRPr>
            </a:pPr>
            <a:r>
              <a:rPr sz="2850" b="0">
                <a:solidFill>
                  <a:srgbClr val="F5F4ED"/>
                </a:solidFill>
                <a:latin typeface="Arial"/>
                <a:ea typeface="Arial"/>
                <a:cs typeface="Arial"/>
              </a:rPr>
              <a:t>1% engineering</a:t>
            </a:r>
          </a:p>
          <a:p xmlns:a="http://schemas.openxmlformats.org/drawingml/2006/main">
            <a:pPr>
              <a:defRPr sz="2850" b="0">
                <a:solidFill>
                  <a:srgbClr val="F5F4ED"/>
                </a:solidFill>
                <a:latin typeface="Arial"/>
                <a:ea typeface="Arial"/>
                <a:cs typeface="Arial"/>
              </a:defRPr>
            </a:pPr>
            <a:r>
              <a:rPr sz="2850" b="0">
                <a:solidFill>
                  <a:srgbClr val="F5F4ED"/>
                </a:solidFill>
                <a:latin typeface="Arial"/>
                <a:ea typeface="Arial"/>
                <a:cs typeface="Arial"/>
              </a:rPr>
              <a:t>99% convincing people they’re Platinum</a:t>
            </a:r>
          </a:p>
        </p:txBody>
      </p:sp>
      <p:sp>
        <p:nvSpPr>
          <p:cNvPr id="4" name="">
            <a:extLst xmlns:a="http://schemas.openxmlformats.org/drawingml/2006/main">
              <a:ext uri="{FF2B5EF4-FFF2-40B4-BE49-F238E27FC236}">
                <a16:creationId xmlns:a16="http://schemas.microsoft.com/office/drawing/2014/main" id="{9A508725-7021-42E5-8905-01F1FC229974}"/>
              </a:ext>
            </a:extLst>
          </p:cNvPr>
          <p:cNvSpPr>
            <a:spLocks xmlns:a="http://schemas.openxmlformats.org/drawingml/2006/main" noGrp="1"/>
          </p:cNvSpPr>
          <p:nvPr/>
        </p:nvSpPr>
        <p:spPr>
          <a:xfrm xmlns:a="http://schemas.openxmlformats.org/drawingml/2006/main">
            <a:off x="723900" y="558165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C5FF44"/>
                </a:solidFill>
                <a:latin typeface="Arial"/>
                <a:ea typeface="Arial"/>
                <a:cs typeface="Arial"/>
              </a:defRPr>
            </a:pPr>
            <a:r>
              <a:rPr sz="3600" b="1">
                <a:solidFill>
                  <a:srgbClr val="C5FF44"/>
                </a:solidFill>
                <a:latin typeface="Arial"/>
                <a:ea typeface="Arial"/>
                <a:cs typeface="Arial"/>
              </a:rPr>
              <a:t>Exit strategy: Exit 147.</a:t>
            </a:r>
          </a:p>
        </p:txBody>
      </p:sp>
    </p:spTree>
    <p:extLst>
      <p:ext uri="{BB962C8B-B14F-4D97-AF65-F5344CB8AC3E}">
        <p14:creationId xmlns:p14="http://schemas.microsoft.com/office/powerpoint/2010/main" val="208440573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2026-09-20T03:57:50.3650000Z</dcterms:created>
  <dcterms:modified xsi:type="dcterms:W3CDTF">2026-09-20T03:57:50.3650000Z</dcterms:modified>
</coreProperties>
</file>